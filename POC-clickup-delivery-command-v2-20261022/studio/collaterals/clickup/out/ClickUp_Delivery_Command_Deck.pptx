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9" r:id="rId27"/>
    <p:sldId id="260" r:id="rId28"/>
    <p:sldId id="261" r:id="rId29"/>
    <p:sldId id="262" r:id="rId30"/>
    <p:sldId id="263" r:id="rId31"/>
    <p:sldId id="264" r:id="rId32"/>
    <p:sldId id="265" r:id="rId33"/>
    <p:sldId id="266" r:id="rId34"/>
  </p:sldIdLst>
  <p:sldSz cy="5143500" cx="9144000"/>
  <p:notesSz cx="6858000" cy="9144000"/>
  <p:embeddedFontLst>
    <p:embeddedFont>
      <p:font typeface="Spectral"/>
      <p:regular r:id="rId8"/>
      <p:bold r:id="rId9"/>
      <p:italic r:id="rId10"/>
      <p:boldItalic r:id="rId11"/>
    </p:embeddedFont>
    <p:embeddedFont>
      <p:font typeface="Spectral SemiBold"/>
      <p:regular r:id="rId12"/>
      <p:bold r:id="rId13"/>
      <p:italic r:id="rId14"/>
      <p:boldItalic r:id="rId15"/>
    </p:embeddedFont>
    <p:embeddedFont>
      <p:font typeface="Spectral Light"/>
      <p:regular r:id="rId16"/>
      <p:bold r:id="rId17"/>
      <p:italic r:id="rId18"/>
      <p:boldItalic r:id="rId19"/>
    </p:embeddedFont>
    <p:embeddedFont>
      <p:font typeface="Spectral Medium"/>
      <p:regular r:id="rId20"/>
      <p:bold r:id="rId21"/>
      <p:italic r:id="rId22"/>
      <p:boldItalic r:id="rId23"/>
    </p:embeddedFont>
    <p:embeddedFont>
      <p:font typeface="Spectral ExtraBold"/>
      <p:bold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iSR5yXyEMnKcGJwh60P9yTRJMV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8" Type="http://schemas.openxmlformats.org/officeDocument/2006/relationships/font" Target="fonts/Spectral-regular.fntdata"/><Relationship Id="rId9" Type="http://schemas.openxmlformats.org/officeDocument/2006/relationships/font" Target="fonts/Spectral-bold.fntdata"/><Relationship Id="rId10" Type="http://schemas.openxmlformats.org/officeDocument/2006/relationships/font" Target="fonts/Spectral-italic.fntdata"/><Relationship Id="rId11" Type="http://schemas.openxmlformats.org/officeDocument/2006/relationships/font" Target="fonts/Spectral-boldItalic.fntdata"/><Relationship Id="rId12" Type="http://schemas.openxmlformats.org/officeDocument/2006/relationships/font" Target="fonts/SpectralSemiBold-regular.fntdata"/><Relationship Id="rId13" Type="http://schemas.openxmlformats.org/officeDocument/2006/relationships/font" Target="fonts/SpectralSemiBold-bold.fntdata"/><Relationship Id="rId14" Type="http://schemas.openxmlformats.org/officeDocument/2006/relationships/font" Target="fonts/SpectralSemiBold-italic.fntdata"/><Relationship Id="rId15" Type="http://schemas.openxmlformats.org/officeDocument/2006/relationships/font" Target="fonts/SpectralSemiBold-boldItalic.fntdata"/><Relationship Id="rId16" Type="http://schemas.openxmlformats.org/officeDocument/2006/relationships/font" Target="fonts/SpectralLight-regular.fntdata"/><Relationship Id="rId17" Type="http://schemas.openxmlformats.org/officeDocument/2006/relationships/font" Target="fonts/SpectralLight-bold.fntdata"/><Relationship Id="rId18" Type="http://schemas.openxmlformats.org/officeDocument/2006/relationships/font" Target="fonts/SpectralLight-italic.fntdata"/><Relationship Id="rId19" Type="http://schemas.openxmlformats.org/officeDocument/2006/relationships/font" Target="fonts/SpectralLight-boldItalic.fntdata"/><Relationship Id="rId20" Type="http://schemas.openxmlformats.org/officeDocument/2006/relationships/font" Target="fonts/SpectralMedium-regular.fntdata"/><Relationship Id="rId21" Type="http://schemas.openxmlformats.org/officeDocument/2006/relationships/font" Target="fonts/SpectralMedium-bold.fntdata"/><Relationship Id="rId22" Type="http://schemas.openxmlformats.org/officeDocument/2006/relationships/font" Target="fonts/SpectralMedium-italic.fntdata"/><Relationship Id="rId23" Type="http://schemas.openxmlformats.org/officeDocument/2006/relationships/font" Target="fonts/SpectralMedium-boldItalic.fntdata"/><Relationship Id="rId24" Type="http://schemas.openxmlformats.org/officeDocument/2006/relationships/font" Target="fonts/SpectralExtraBold-bold.fntdata"/><Relationship Id="rId25" Type="http://schemas.openxmlformats.org/officeDocument/2006/relationships/font" Target="fonts/SpectralExtraBold-boldItalic.fntdata"/><Relationship Id="rId26" Type="http://customschemas.google.com/relationships/presentationmetadata" Target="metadata"/><Relationship Id="rId27" Type="http://schemas.openxmlformats.org/officeDocument/2006/relationships/slide" Target="slides/slide4.xml"/><Relationship Id="rId28" Type="http://schemas.openxmlformats.org/officeDocument/2006/relationships/slide" Target="slides/slide5.xml"/><Relationship Id="rId29" Type="http://schemas.openxmlformats.org/officeDocument/2006/relationships/slide" Target="slides/slide6.xml"/><Relationship Id="rId30" Type="http://schemas.openxmlformats.org/officeDocument/2006/relationships/slide" Target="slides/slide7.xml"/><Relationship Id="rId31" Type="http://schemas.openxmlformats.org/officeDocument/2006/relationships/slide" Target="slides/slide8.xml"/><Relationship Id="rId32" Type="http://schemas.openxmlformats.org/officeDocument/2006/relationships/slide" Target="slides/slide9.xml"/><Relationship Id="rId33" Type="http://schemas.openxmlformats.org/officeDocument/2006/relationships/slide" Target="slides/slide10.xml"/><Relationship Id="rId34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ClickUp's own brief names three causes of late go-lives: data migration running long, customers signing off late, and consultants booked on too many projects. Status reports also take about an hour each.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story runs through the demo: Halden Freight, at risk of missing its 27 November go-live. The Copilot's status draft came back in 39 seconds in the demo; the booking that would have taken Tomas Brandt to 120 percent was refused before it saved.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Portfolio shows every implementation's health and names the project most likely to slip, with its evidence.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lead runs the project on one screen and gets the weekly report drafted from the project's own records.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sponsor follows the rollout and signs off in her own language.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page every Monday. In the demo the numbers are a seeded weekly snapshot.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step maps to a scene in the demo video and script.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path from this proof of concept to a pilot with one delivery region.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Eyebrow - Left Aligned">
  <p:cSld name="5_Title and Content_2_3">
    <p:bg>
      <p:bgPr>
        <a:gradFill>
          <a:gsLst>
            <a:gs pos="0">
              <a:srgbClr val="FFFFFF"/>
            </a:gs>
            <a:gs pos="41000">
              <a:srgbClr val="FFFFFF"/>
            </a:gs>
            <a:gs pos="100000">
              <a:schemeClr val="lt2"/>
            </a:gs>
          </a:gsLst>
          <a:path path="circle">
            <a:fillToRect b="100%" l="100%" r="0%" t="0%"/>
          </a:path>
          <a:tileRect b="0%" l="0%" r="-100%" t="-100%"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5" title="UnifyAppsLogo-Gold-TM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1600" y="4727513"/>
            <a:ext cx="943736" cy="27551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5"/>
          <p:cNvSpPr txBox="1"/>
          <p:nvPr/>
        </p:nvSpPr>
        <p:spPr>
          <a:xfrm>
            <a:off x="8501691" y="4744238"/>
            <a:ext cx="3948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 strike="noStrike">
                <a:solidFill>
                  <a:srgbClr val="847347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‹#›</a:t>
            </a:fld>
            <a:endParaRPr b="0" i="0" sz="600" u="none" cap="none" strike="noStrike">
              <a:solidFill>
                <a:srgbClr val="847347"/>
              </a:solidFill>
              <a:latin typeface="Spectral Light"/>
              <a:ea typeface="Spectral Light"/>
              <a:cs typeface="Spectral Light"/>
              <a:sym typeface="Spectral Light"/>
            </a:endParaRPr>
          </a:p>
        </p:txBody>
      </p:sp>
      <p:sp>
        <p:nvSpPr>
          <p:cNvPr id="11" name="Google Shape;11;p5"/>
          <p:cNvSpPr txBox="1"/>
          <p:nvPr/>
        </p:nvSpPr>
        <p:spPr>
          <a:xfrm>
            <a:off x="3241351" y="4719200"/>
            <a:ext cx="26613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847347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Agentic Automation for the Enterprise   ·   Strictly Confidential</a:t>
            </a:r>
            <a:endParaRPr b="0" i="0" sz="800" u="none" cap="none" strike="noStrike">
              <a:solidFill>
                <a:srgbClr val="847347"/>
              </a:solidFill>
              <a:latin typeface="Spectral Light"/>
              <a:ea typeface="Spectral Light"/>
              <a:cs typeface="Spectral Light"/>
              <a:sym typeface="Spectral Light"/>
            </a:endParaRPr>
          </a:p>
        </p:txBody>
      </p:sp>
      <p:sp>
        <p:nvSpPr>
          <p:cNvPr id="12" name="Google Shape;12;p5"/>
          <p:cNvSpPr txBox="1"/>
          <p:nvPr/>
        </p:nvSpPr>
        <p:spPr>
          <a:xfrm>
            <a:off x="1444614" y="4840932"/>
            <a:ext cx="2263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847347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·   Intelligence that compounds</a:t>
            </a:r>
            <a:endParaRPr b="0" i="0" sz="1100" u="none" cap="none" strike="noStrike">
              <a:solidFill>
                <a:srgbClr val="847347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3" name="Google Shape;13;p5"/>
          <p:cNvSpPr txBox="1"/>
          <p:nvPr>
            <p:ph idx="1" type="body"/>
          </p:nvPr>
        </p:nvSpPr>
        <p:spPr>
          <a:xfrm>
            <a:off x="411600" y="1280150"/>
            <a:ext cx="8346600" cy="31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pectral Light"/>
              <a:buNone/>
              <a:defRPr sz="1400">
                <a:solidFill>
                  <a:schemeClr val="accent2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Spectral SemiBold"/>
              <a:buNone/>
              <a:defRPr sz="800">
                <a:solidFill>
                  <a:schemeClr val="accent2"/>
                </a:solidFill>
                <a:latin typeface="Spectral SemiBold"/>
                <a:ea typeface="Spectral SemiBold"/>
                <a:cs typeface="Spectral SemiBold"/>
                <a:sym typeface="Spectral SemiBold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Spectral SemiBold"/>
              <a:buNone/>
              <a:defRPr b="0" sz="600">
                <a:solidFill>
                  <a:schemeClr val="accent2"/>
                </a:solidFill>
                <a:latin typeface="Spectral SemiBold"/>
                <a:ea typeface="Spectral SemiBold"/>
                <a:cs typeface="Spectral SemiBold"/>
                <a:sym typeface="Spectral SemiBold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300"/>
              <a:buFont typeface="Spectral SemiBold"/>
              <a:buNone/>
              <a:defRPr b="0" sz="300">
                <a:solidFill>
                  <a:schemeClr val="accent2"/>
                </a:solidFill>
                <a:latin typeface="Spectral SemiBold"/>
                <a:ea typeface="Spectral SemiBold"/>
                <a:cs typeface="Spectral SemiBold"/>
                <a:sym typeface="Spectral SemiBold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300"/>
              <a:buFont typeface="Spectral SemiBold"/>
              <a:buNone/>
              <a:defRPr sz="300">
                <a:solidFill>
                  <a:schemeClr val="accent2"/>
                </a:solidFill>
                <a:latin typeface="Spectral SemiBold"/>
                <a:ea typeface="Spectral SemiBold"/>
                <a:cs typeface="Spectral SemiBold"/>
                <a:sym typeface="Spectral SemiBold"/>
              </a:defRPr>
            </a:lvl5pPr>
            <a:lvl6pPr indent="-2794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Spectral SemiBold"/>
              <a:buChar char="•"/>
              <a:defRPr sz="800">
                <a:solidFill>
                  <a:schemeClr val="accent2"/>
                </a:solidFill>
                <a:latin typeface="Spectral SemiBold"/>
                <a:ea typeface="Spectral SemiBold"/>
                <a:cs typeface="Spectral SemiBold"/>
                <a:sym typeface="Spectral SemiBold"/>
              </a:defRPr>
            </a:lvl6pPr>
            <a:lvl7pPr indent="-2794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Spectral SemiBold"/>
              <a:buChar char="•"/>
              <a:defRPr sz="800">
                <a:solidFill>
                  <a:schemeClr val="accent2"/>
                </a:solidFill>
                <a:latin typeface="Spectral SemiBold"/>
                <a:ea typeface="Spectral SemiBold"/>
                <a:cs typeface="Spectral SemiBold"/>
                <a:sym typeface="Spectral SemiBold"/>
              </a:defRPr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Spectral SemiBold"/>
              <a:buChar char="•"/>
              <a:defRPr sz="800">
                <a:solidFill>
                  <a:schemeClr val="accent2"/>
                </a:solidFill>
                <a:latin typeface="Spectral SemiBold"/>
                <a:ea typeface="Spectral SemiBold"/>
                <a:cs typeface="Spectral SemiBold"/>
                <a:sym typeface="Spectral SemiBold"/>
              </a:defRPr>
            </a:lvl8pPr>
            <a:lvl9pPr indent="-2794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Spectral SemiBold"/>
              <a:buChar char="•"/>
              <a:defRPr sz="800">
                <a:solidFill>
                  <a:schemeClr val="accent2"/>
                </a:solidFill>
                <a:latin typeface="Spectral SemiBold"/>
                <a:ea typeface="Spectral SemiBold"/>
                <a:cs typeface="Spectral SemiBold"/>
                <a:sym typeface="Spectral SemiBold"/>
              </a:defRPr>
            </a:lvl9pPr>
          </a:lstStyle>
          <a:p/>
        </p:txBody>
      </p:sp>
      <p:sp>
        <p:nvSpPr>
          <p:cNvPr id="14" name="Google Shape;14;p5"/>
          <p:cNvSpPr txBox="1"/>
          <p:nvPr>
            <p:ph idx="2" type="subTitle"/>
          </p:nvPr>
        </p:nvSpPr>
        <p:spPr>
          <a:xfrm>
            <a:off x="409915" y="390782"/>
            <a:ext cx="8562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96115"/>
              </a:lnSpc>
              <a:spcBef>
                <a:spcPts val="0"/>
              </a:spcBef>
              <a:spcAft>
                <a:spcPts val="0"/>
              </a:spcAft>
              <a:buClr>
                <a:srgbClr val="3E1CC0"/>
              </a:buClr>
              <a:buSzPts val="1100"/>
              <a:buFont typeface="Poppins"/>
              <a:buNone/>
              <a:defRPr sz="1300">
                <a:solidFill>
                  <a:schemeClr val="dk1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5" name="Google Shape;15;p5"/>
          <p:cNvSpPr txBox="1"/>
          <p:nvPr>
            <p:ph type="title"/>
          </p:nvPr>
        </p:nvSpPr>
        <p:spPr>
          <a:xfrm>
            <a:off x="409925" y="642200"/>
            <a:ext cx="84405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95200"/>
              </a:lnSpc>
              <a:spcBef>
                <a:spcPts val="0"/>
              </a:spcBef>
              <a:spcAft>
                <a:spcPts val="0"/>
              </a:spcAft>
              <a:buClr>
                <a:srgbClr val="0D0451"/>
              </a:buClr>
              <a:buSzPts val="2300"/>
              <a:buFont typeface="Poppins ExtraBold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41000">
              <a:srgbClr val="FFFFFF"/>
            </a:gs>
            <a:gs pos="100000">
              <a:schemeClr val="lt2"/>
            </a:gs>
          </a:gsLst>
          <a:path path="circle">
            <a:fillToRect b="100%" l="100%" r="0%" t="0%"/>
          </a:path>
          <a:tileRect b="0%" l="0%" r="-100%" t="-100%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394800" y="400199"/>
            <a:ext cx="78867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Spectral SemiBold"/>
              <a:buNone/>
              <a:defRPr b="0" i="0" sz="2300" u="none" cap="none" strike="noStrike">
                <a:solidFill>
                  <a:schemeClr val="accent2"/>
                </a:solidFill>
                <a:latin typeface="Spectral SemiBold"/>
                <a:ea typeface="Spectral SemiBold"/>
                <a:cs typeface="Spectral SemiBold"/>
                <a:sym typeface="Spectral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None/>
              <a:defRPr b="0" i="0" sz="18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None/>
              <a:defRPr b="0" i="0" sz="18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None/>
              <a:defRPr b="0" i="0" sz="18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None/>
              <a:defRPr b="0" i="0" sz="18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None/>
              <a:defRPr b="0" i="0" sz="18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None/>
              <a:defRPr b="0" i="0" sz="18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None/>
              <a:defRPr b="0" i="0" sz="18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ectral"/>
              <a:buNone/>
              <a:defRPr b="0" i="0" sz="18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394800" y="1370013"/>
            <a:ext cx="78867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pectral"/>
              <a:buNone/>
              <a:defRPr b="0" i="0" sz="1400" u="none" cap="none" strike="noStrike">
                <a:solidFill>
                  <a:schemeClr val="accent2"/>
                </a:solidFill>
                <a:latin typeface="Spectral"/>
                <a:ea typeface="Spectral"/>
                <a:cs typeface="Spectral"/>
                <a:sym typeface="Spectr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ectral"/>
              <a:buNone/>
              <a:defRPr b="0" i="0" sz="1000" u="none" cap="none" strike="noStrike">
                <a:solidFill>
                  <a:schemeClr val="accent2"/>
                </a:solidFill>
                <a:latin typeface="Spectral"/>
                <a:ea typeface="Spectral"/>
                <a:cs typeface="Spectral"/>
                <a:sym typeface="Spectr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Spectral"/>
              <a:buNone/>
              <a:defRPr b="1" i="0" sz="700" u="none" cap="none" strike="noStrike">
                <a:solidFill>
                  <a:schemeClr val="accent2"/>
                </a:solidFill>
                <a:latin typeface="Spectral"/>
                <a:ea typeface="Spectral"/>
                <a:cs typeface="Spectral"/>
                <a:sym typeface="Spectr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ectral"/>
              <a:buNone/>
              <a:defRPr b="1" i="0" sz="1200" u="none" cap="none" strike="noStrike">
                <a:solidFill>
                  <a:schemeClr val="accent2"/>
                </a:solidFill>
                <a:latin typeface="Spectral"/>
                <a:ea typeface="Spectral"/>
                <a:cs typeface="Spectral"/>
                <a:sym typeface="Spectr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ectral ExtraBold"/>
              <a:buNone/>
              <a:defRPr b="0" i="0" sz="1000" u="none" cap="none" strike="noStrike">
                <a:solidFill>
                  <a:schemeClr val="accent2"/>
                </a:solidFill>
                <a:latin typeface="Spectral ExtraBold"/>
                <a:ea typeface="Spectral ExtraBold"/>
                <a:cs typeface="Spectral ExtraBold"/>
                <a:sym typeface="Spectral ExtraBold"/>
              </a:defRPr>
            </a:lvl5pPr>
            <a:lvl6pPr indent="-3492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Spectral"/>
              <a:buChar char="•"/>
              <a:defRPr b="0" i="0" sz="1900" u="none" cap="none" strike="noStrike">
                <a:solidFill>
                  <a:schemeClr val="accent2"/>
                </a:solidFill>
                <a:latin typeface="Spectral"/>
                <a:ea typeface="Spectral"/>
                <a:cs typeface="Spectral"/>
                <a:sym typeface="Spectr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ectral"/>
              <a:buChar char="•"/>
              <a:defRPr b="0" i="0" sz="1800" u="none" cap="none" strike="noStrike">
                <a:solidFill>
                  <a:schemeClr val="accent2"/>
                </a:solidFill>
                <a:latin typeface="Spectral"/>
                <a:ea typeface="Spectral"/>
                <a:cs typeface="Spectral"/>
                <a:sym typeface="Spectr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ectral"/>
              <a:buChar char="•"/>
              <a:defRPr b="0" i="0" sz="1800" u="none" cap="none" strike="noStrike">
                <a:solidFill>
                  <a:schemeClr val="accent2"/>
                </a:solidFill>
                <a:latin typeface="Spectral"/>
                <a:ea typeface="Spectral"/>
                <a:cs typeface="Spectral"/>
                <a:sym typeface="Spectr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ectral"/>
              <a:buChar char="•"/>
              <a:defRPr b="0" i="0" sz="1800" u="none" cap="none" strike="noStrike">
                <a:solidFill>
                  <a:schemeClr val="accent2"/>
                </a:solidFill>
                <a:latin typeface="Spectral"/>
                <a:ea typeface="Spectral"/>
                <a:cs typeface="Spectral"/>
                <a:sym typeface="Spectr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14.png"/><Relationship Id="rId7" Type="http://schemas.openxmlformats.org/officeDocument/2006/relationships/image" Target="../media/image3.png"/><Relationship Id="rId8" Type="http://schemas.openxmlformats.org/officeDocument/2006/relationships/image" Target="../media/image17.png"/><Relationship Id="rId9" Type="http://schemas.openxmlformats.org/officeDocument/2006/relationships/image" Target="../media/image2.png"/><Relationship Id="rId10" Type="http://schemas.openxmlformats.org/officeDocument/2006/relationships/image" Target="../media/image13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image" Target="../media/image23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10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0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10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0.png"/><Relationship Id="rId11" Type="http://schemas.openxmlformats.org/officeDocument/2006/relationships/image" Target="../media/image39.png"/><Relationship Id="rId1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10.png"/><Relationship Id="rId7" Type="http://schemas.openxmlformats.org/officeDocument/2006/relationships/image" Target="../media/image40.png"/><Relationship Id="rId8" Type="http://schemas.openxmlformats.org/officeDocument/2006/relationships/image" Target="../media/image29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10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37.png"/><Relationship Id="rId11" Type="http://schemas.openxmlformats.org/officeDocument/2006/relationships/image" Target="../media/image47.png"/><Relationship Id="rId1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14.png"/><Relationship Id="rId7" Type="http://schemas.openxmlformats.org/officeDocument/2006/relationships/image" Target="../media/image3.png"/><Relationship Id="rId8" Type="http://schemas.openxmlformats.org/officeDocument/2006/relationships/image" Target="../media/image17.png"/><Relationship Id="rId9" Type="http://schemas.openxmlformats.org/officeDocument/2006/relationships/image" Target="../media/image2.png"/><Relationship Id="rId10" Type="http://schemas.openxmlformats.org/officeDocument/2006/relationships/image" Target="../media/image13.png"/><Relationship Id="rId11" Type="http://schemas.openxmlformats.org/officeDocument/2006/relationships/image" Target="../media/image48.png"/><Relationship Id="rId1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10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Relationship Id="rId10" Type="http://schemas.openxmlformats.org/officeDocument/2006/relationships/image" Target="../media/image29.png"/><Relationship Id="rId11" Type="http://schemas.openxmlformats.org/officeDocument/2006/relationships/image" Target="../media/image52.png"/><Relationship Id="rId12" Type="http://schemas.openxmlformats.org/officeDocument/2006/relationships/notesSlide" Target="../notesSlides/notesSlide11.xml"/></Relationships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Google Shape;20;p1"/>
          <p:cNvSpPr txBox="1"/>
          <p:nvPr>
            <p:ph idx="2" type="subTitle"/>
          </p:nvPr>
        </p:nvSpPr>
        <p:spPr>
          <a:xfrm>
            <a:off x="409915" y="390782"/>
            <a:ext cx="8562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Spectral SemiBold"/>
                <a:ea typeface="Spectral SemiBold"/>
                <a:cs typeface="Spectral SemiBold"/>
                <a:sym typeface="Spectral SemiBold"/>
              </a:rPr>
              <a:t>HOW DELIVERY RUNS TODAY</a:t>
            </a:r>
            <a:endParaRPr/>
          </a:p>
        </p:txBody>
      </p:sp>
      <p:sp>
        <p:nvSpPr>
          <p:cNvPr id="21" name="Google Shape;21;p1"/>
          <p:cNvSpPr txBox="1"/>
          <p:nvPr>
            <p:ph type="title"/>
          </p:nvPr>
        </p:nvSpPr>
        <p:spPr>
          <a:xfrm>
            <a:off x="409925" y="642200"/>
            <a:ext cx="73152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US" sz="2600">
                <a:solidFill>
                  <a:srgbClr val="0F2805"/>
                </a:solidFill>
              </a:rPr>
              <a:t>Today’s challenges: </a:t>
            </a:r>
            <a:r>
              <a:rPr i="1" lang="en-US" sz="2600">
                <a:solidFill>
                  <a:schemeClr val="dk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why go-lives slip</a:t>
            </a:r>
            <a:r>
              <a:rPr lang="en-US" sz="2600">
                <a:solidFill>
                  <a:srgbClr val="0F2805"/>
                </a:solidFill>
              </a:rPr>
              <a:t>.</a:t>
            </a:r>
            <a:endParaRPr>
              <a:solidFill>
                <a:srgbClr val="0F2805"/>
              </a:solidFill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11480" y="1188720"/>
            <a:ext cx="8174736" cy="1828800"/>
          </a:xfrm>
          <a:prstGeom prst="roundRect">
            <a:avLst>
              <a:gd fmla="val 12000" name="adj"/>
            </a:avLst>
          </a:prstGeom>
          <a:solidFill>
            <a:srgbClr val="FCFAF5"/>
          </a:solidFill>
          <a:ln cap="flat" cmpd="sng" w="9525">
            <a:solidFill>
              <a:srgbClr val="C3B9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40080" y="1389888"/>
            <a:ext cx="493776" cy="493776"/>
          </a:xfrm>
          <a:prstGeom prst="ellipse">
            <a:avLst/>
          </a:prstGeom>
          <a:solidFill>
            <a:srgbClr val="EDE6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ser-plus-gold.png" id="24" name="Google Shape;24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49808" y="1499616"/>
            <a:ext cx="274320" cy="2743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" name="Google Shape;25;p1"/>
          <p:cNvCxnSpPr/>
          <p:nvPr/>
        </p:nvCxnSpPr>
        <p:spPr>
          <a:xfrm>
            <a:off x="1207008" y="1636776"/>
            <a:ext cx="903427" cy="0"/>
          </a:xfrm>
          <a:prstGeom prst="straightConnector1">
            <a:avLst/>
          </a:prstGeom>
          <a:noFill/>
          <a:ln cap="flat" cmpd="sng" w="12700">
            <a:solidFill>
              <a:srgbClr val="C3B9A8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" name="Google Shape;26;p1"/>
          <p:cNvSpPr txBox="1"/>
          <p:nvPr/>
        </p:nvSpPr>
        <p:spPr>
          <a:xfrm>
            <a:off x="640080" y="2066544"/>
            <a:ext cx="1360627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Delivery director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640080" y="2450592"/>
            <a:ext cx="1360627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D3829"/>
                </a:solidFill>
                <a:latin typeface="Spectral"/>
                <a:ea typeface="Spectral"/>
                <a:cs typeface="Spectral"/>
                <a:sym typeface="Spectral"/>
              </a:rPr>
              <a:t>Hears a project is at risk close to its go-live date.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2183587" y="1389888"/>
            <a:ext cx="493776" cy="493776"/>
          </a:xfrm>
          <a:prstGeom prst="ellipse">
            <a:avLst/>
          </a:prstGeom>
          <a:solidFill>
            <a:srgbClr val="EDE6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ield-check-gold.png" id="29" name="Google Shape;29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293315" y="1499616"/>
            <a:ext cx="274320" cy="2743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" name="Google Shape;30;p1"/>
          <p:cNvCxnSpPr/>
          <p:nvPr/>
        </p:nvCxnSpPr>
        <p:spPr>
          <a:xfrm>
            <a:off x="2750515" y="1636776"/>
            <a:ext cx="903427" cy="0"/>
          </a:xfrm>
          <a:prstGeom prst="straightConnector1">
            <a:avLst/>
          </a:prstGeom>
          <a:noFill/>
          <a:ln cap="flat" cmpd="sng" w="12700">
            <a:solidFill>
              <a:srgbClr val="C3B9A8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1" name="Google Shape;31;p1"/>
          <p:cNvSpPr txBox="1"/>
          <p:nvPr/>
        </p:nvSpPr>
        <p:spPr>
          <a:xfrm>
            <a:off x="2183587" y="2066544"/>
            <a:ext cx="1360627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Resource manager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 txBox="1"/>
          <p:nvPr/>
        </p:nvSpPr>
        <p:spPr>
          <a:xfrm>
            <a:off x="2183587" y="2450592"/>
            <a:ext cx="1360627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D3829"/>
                </a:solidFill>
                <a:latin typeface="Spectral"/>
                <a:ea typeface="Spectral"/>
                <a:cs typeface="Spectral"/>
                <a:sym typeface="Spectral"/>
              </a:rPr>
              <a:t>Books consultants already on too many projects at once.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3727094" y="1389888"/>
            <a:ext cx="493776" cy="493776"/>
          </a:xfrm>
          <a:prstGeom prst="ellipse">
            <a:avLst/>
          </a:prstGeom>
          <a:solidFill>
            <a:srgbClr val="EDE6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le-pen-gold.png" id="34" name="Google Shape;34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836822" y="1499616"/>
            <a:ext cx="274320" cy="2743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" name="Google Shape;35;p1"/>
          <p:cNvCxnSpPr/>
          <p:nvPr/>
        </p:nvCxnSpPr>
        <p:spPr>
          <a:xfrm>
            <a:off x="4294022" y="1636776"/>
            <a:ext cx="903427" cy="0"/>
          </a:xfrm>
          <a:prstGeom prst="straightConnector1">
            <a:avLst/>
          </a:prstGeom>
          <a:noFill/>
          <a:ln cap="flat" cmpd="sng" w="12700">
            <a:solidFill>
              <a:srgbClr val="C3B9A8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6" name="Google Shape;36;p1"/>
          <p:cNvSpPr txBox="1"/>
          <p:nvPr/>
        </p:nvSpPr>
        <p:spPr>
          <a:xfrm>
            <a:off x="3727094" y="2066544"/>
            <a:ext cx="1360627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Customer sponsor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"/>
          <p:cNvSpPr txBox="1"/>
          <p:nvPr/>
        </p:nvSpPr>
        <p:spPr>
          <a:xfrm>
            <a:off x="3727094" y="2450592"/>
            <a:ext cx="1360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D3829"/>
                </a:solidFill>
                <a:latin typeface="Spectral"/>
                <a:ea typeface="Spectral"/>
                <a:cs typeface="Spectral"/>
                <a:sym typeface="Spectral"/>
              </a:rPr>
              <a:t>Signs off stage deliverables after they are due.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5270601" y="1389888"/>
            <a:ext cx="493776" cy="493776"/>
          </a:xfrm>
          <a:prstGeom prst="ellipse">
            <a:avLst/>
          </a:prstGeom>
          <a:solidFill>
            <a:srgbClr val="EDE6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lipboard-check-gold.png" id="39" name="Google Shape;39;p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380329" y="1499616"/>
            <a:ext cx="274320" cy="2743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" name="Google Shape;40;p1"/>
          <p:cNvCxnSpPr/>
          <p:nvPr/>
        </p:nvCxnSpPr>
        <p:spPr>
          <a:xfrm>
            <a:off x="5837529" y="1636776"/>
            <a:ext cx="903427" cy="0"/>
          </a:xfrm>
          <a:prstGeom prst="straightConnector1">
            <a:avLst/>
          </a:prstGeom>
          <a:noFill/>
          <a:ln cap="flat" cmpd="sng" w="12700">
            <a:solidFill>
              <a:srgbClr val="C3B9A8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1" name="Google Shape;41;p1"/>
          <p:cNvSpPr txBox="1"/>
          <p:nvPr/>
        </p:nvSpPr>
        <p:spPr>
          <a:xfrm>
            <a:off x="5270601" y="2066544"/>
            <a:ext cx="1360627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Implementation lead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"/>
          <p:cNvSpPr txBox="1"/>
          <p:nvPr/>
        </p:nvSpPr>
        <p:spPr>
          <a:xfrm>
            <a:off x="5270601" y="2450592"/>
            <a:ext cx="1360627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D3829"/>
                </a:solidFill>
                <a:latin typeface="Spectral"/>
                <a:ea typeface="Spectral"/>
                <a:cs typeface="Spectral"/>
                <a:sym typeface="Spectral"/>
              </a:rPr>
              <a:t>Writes each weekly status report by hand, about an hour each.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6814108" y="1389888"/>
            <a:ext cx="493776" cy="493776"/>
          </a:xfrm>
          <a:prstGeom prst="ellipse">
            <a:avLst/>
          </a:prstGeom>
          <a:solidFill>
            <a:srgbClr val="EDE6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ye-gold.png" id="44" name="Google Shape;44;p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923836" y="149961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"/>
          <p:cNvSpPr txBox="1"/>
          <p:nvPr/>
        </p:nvSpPr>
        <p:spPr>
          <a:xfrm>
            <a:off x="6814108" y="2066544"/>
            <a:ext cx="1360627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VP of customer success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"/>
          <p:cNvSpPr txBox="1"/>
          <p:nvPr/>
        </p:nvSpPr>
        <p:spPr>
          <a:xfrm>
            <a:off x="6814108" y="2450592"/>
            <a:ext cx="1360627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D3829"/>
                </a:solidFill>
                <a:latin typeface="Spectral"/>
                <a:ea typeface="Spectral"/>
                <a:cs typeface="Spectral"/>
                <a:sym typeface="Spectral"/>
              </a:rPr>
              <a:t>Needs headline numbers and what changed, every Monday.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"/>
          <p:cNvSpPr txBox="1"/>
          <p:nvPr/>
        </p:nvSpPr>
        <p:spPr>
          <a:xfrm>
            <a:off x="411480" y="3108960"/>
            <a:ext cx="2743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47347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WHERE IT BREAKS DOWN</a:t>
            </a:r>
            <a:endParaRPr/>
          </a:p>
        </p:txBody>
      </p:sp>
      <p:sp>
        <p:nvSpPr>
          <p:cNvPr id="48" name="Google Shape;48;p1"/>
          <p:cNvSpPr/>
          <p:nvPr/>
        </p:nvSpPr>
        <p:spPr>
          <a:xfrm>
            <a:off x="411480" y="3291840"/>
            <a:ext cx="2569464" cy="566928"/>
          </a:xfrm>
          <a:prstGeom prst="roundRect">
            <a:avLst>
              <a:gd fmla="val 22000" name="adj"/>
            </a:avLst>
          </a:prstGeom>
          <a:solidFill>
            <a:srgbClr val="FCFAF5"/>
          </a:solidFill>
          <a:ln cap="flat" cmpd="sng" w="9525">
            <a:solidFill>
              <a:srgbClr val="C3B9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521208" y="3410712"/>
            <a:ext cx="329184" cy="329184"/>
          </a:xfrm>
          <a:prstGeom prst="ellipse">
            <a:avLst/>
          </a:prstGeom>
          <a:solidFill>
            <a:srgbClr val="EDE6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n1.png" id="50" name="Google Shape;50;p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00212" y="3489716"/>
            <a:ext cx="171175" cy="171175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"/>
          <p:cNvSpPr txBox="1"/>
          <p:nvPr/>
        </p:nvSpPr>
        <p:spPr>
          <a:xfrm>
            <a:off x="960120" y="3355848"/>
            <a:ext cx="19659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Migration runs late</a:t>
            </a:r>
            <a:endParaRPr/>
          </a:p>
        </p:txBody>
      </p:sp>
      <p:sp>
        <p:nvSpPr>
          <p:cNvPr id="52" name="Google Shape;52;p1"/>
          <p:cNvSpPr txBox="1"/>
          <p:nvPr/>
        </p:nvSpPr>
        <p:spPr>
          <a:xfrm>
            <a:off x="960120" y="3547872"/>
            <a:ext cx="1938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D3829"/>
                </a:solidFill>
                <a:latin typeface="Spectral"/>
                <a:ea typeface="Spectral"/>
                <a:cs typeface="Spectral"/>
                <a:sym typeface="Spectral"/>
              </a:rPr>
              <a:t>Data migration takes longer than planned.</a:t>
            </a:r>
            <a:endParaRPr/>
          </a:p>
        </p:txBody>
      </p:sp>
      <p:sp>
        <p:nvSpPr>
          <p:cNvPr id="53" name="Google Shape;53;p1"/>
          <p:cNvSpPr/>
          <p:nvPr/>
        </p:nvSpPr>
        <p:spPr>
          <a:xfrm>
            <a:off x="3090672" y="3291840"/>
            <a:ext cx="2569464" cy="566928"/>
          </a:xfrm>
          <a:prstGeom prst="roundRect">
            <a:avLst>
              <a:gd fmla="val 22000" name="adj"/>
            </a:avLst>
          </a:prstGeom>
          <a:solidFill>
            <a:srgbClr val="FCFAF5"/>
          </a:solidFill>
          <a:ln cap="flat" cmpd="sng" w="9525">
            <a:solidFill>
              <a:srgbClr val="C3B9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3200400" y="3410712"/>
            <a:ext cx="329184" cy="329184"/>
          </a:xfrm>
          <a:prstGeom prst="ellipse">
            <a:avLst/>
          </a:prstGeom>
          <a:solidFill>
            <a:srgbClr val="EDE6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n2.png" id="55" name="Google Shape;55;p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279404" y="3489716"/>
            <a:ext cx="171175" cy="1711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 txBox="1"/>
          <p:nvPr/>
        </p:nvSpPr>
        <p:spPr>
          <a:xfrm>
            <a:off x="3639312" y="3355848"/>
            <a:ext cx="19659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Sign-offs stall</a:t>
            </a:r>
            <a:endParaRPr/>
          </a:p>
        </p:txBody>
      </p:sp>
      <p:sp>
        <p:nvSpPr>
          <p:cNvPr id="57" name="Google Shape;57;p1"/>
          <p:cNvSpPr txBox="1"/>
          <p:nvPr/>
        </p:nvSpPr>
        <p:spPr>
          <a:xfrm>
            <a:off x="3639312" y="3547872"/>
            <a:ext cx="1938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D3829"/>
                </a:solidFill>
                <a:latin typeface="Spectral"/>
                <a:ea typeface="Spectral"/>
                <a:cs typeface="Spectral"/>
                <a:sym typeface="Spectral"/>
              </a:rPr>
              <a:t>Customers sign off a stage after its due date.</a:t>
            </a:r>
            <a:endParaRPr/>
          </a:p>
        </p:txBody>
      </p:sp>
      <p:sp>
        <p:nvSpPr>
          <p:cNvPr id="58" name="Google Shape;58;p1"/>
          <p:cNvSpPr/>
          <p:nvPr/>
        </p:nvSpPr>
        <p:spPr>
          <a:xfrm>
            <a:off x="411480" y="3931920"/>
            <a:ext cx="2569464" cy="566928"/>
          </a:xfrm>
          <a:prstGeom prst="roundRect">
            <a:avLst>
              <a:gd fmla="val 22000" name="adj"/>
            </a:avLst>
          </a:prstGeom>
          <a:solidFill>
            <a:srgbClr val="FCFAF5"/>
          </a:solidFill>
          <a:ln cap="flat" cmpd="sng" w="9525">
            <a:solidFill>
              <a:srgbClr val="C3B9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521208" y="4050791"/>
            <a:ext cx="329184" cy="329184"/>
          </a:xfrm>
          <a:prstGeom prst="ellipse">
            <a:avLst/>
          </a:prstGeom>
          <a:solidFill>
            <a:srgbClr val="EDE6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n3.png" id="60" name="Google Shape;60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00212" y="4129796"/>
            <a:ext cx="171175" cy="1711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"/>
          <p:cNvSpPr txBox="1"/>
          <p:nvPr/>
        </p:nvSpPr>
        <p:spPr>
          <a:xfrm>
            <a:off x="960120" y="3995928"/>
            <a:ext cx="19659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People overbooked</a:t>
            </a:r>
            <a:endParaRPr/>
          </a:p>
        </p:txBody>
      </p:sp>
      <p:sp>
        <p:nvSpPr>
          <p:cNvPr id="62" name="Google Shape;62;p1"/>
          <p:cNvSpPr txBox="1"/>
          <p:nvPr/>
        </p:nvSpPr>
        <p:spPr>
          <a:xfrm>
            <a:off x="960120" y="4187952"/>
            <a:ext cx="1938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D3829"/>
                </a:solidFill>
                <a:latin typeface="Spectral"/>
                <a:ea typeface="Spectral"/>
                <a:cs typeface="Spectral"/>
                <a:sym typeface="Spectral"/>
              </a:rPr>
              <a:t>Consultants are booked on too many projects at once.</a:t>
            </a:r>
            <a:endParaRPr/>
          </a:p>
        </p:txBody>
      </p:sp>
      <p:sp>
        <p:nvSpPr>
          <p:cNvPr id="63" name="Google Shape;63;p1"/>
          <p:cNvSpPr/>
          <p:nvPr/>
        </p:nvSpPr>
        <p:spPr>
          <a:xfrm>
            <a:off x="3090672" y="3931920"/>
            <a:ext cx="2569464" cy="566928"/>
          </a:xfrm>
          <a:prstGeom prst="roundRect">
            <a:avLst>
              <a:gd fmla="val 22000" name="adj"/>
            </a:avLst>
          </a:prstGeom>
          <a:solidFill>
            <a:srgbClr val="FCFAF5"/>
          </a:solidFill>
          <a:ln cap="flat" cmpd="sng" w="9525">
            <a:solidFill>
              <a:srgbClr val="C3B9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"/>
          <p:cNvSpPr/>
          <p:nvPr/>
        </p:nvSpPr>
        <p:spPr>
          <a:xfrm>
            <a:off x="3200400" y="4050791"/>
            <a:ext cx="329184" cy="329184"/>
          </a:xfrm>
          <a:prstGeom prst="ellipse">
            <a:avLst/>
          </a:prstGeom>
          <a:solidFill>
            <a:srgbClr val="EDE6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n4.png" id="65" name="Google Shape;65;p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279404" y="4129796"/>
            <a:ext cx="171175" cy="1711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"/>
          <p:cNvSpPr txBox="1"/>
          <p:nvPr/>
        </p:nvSpPr>
        <p:spPr>
          <a:xfrm>
            <a:off x="3639312" y="3995928"/>
            <a:ext cx="1965960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Reporting by hand</a:t>
            </a:r>
            <a:endParaRPr/>
          </a:p>
        </p:txBody>
      </p:sp>
      <p:sp>
        <p:nvSpPr>
          <p:cNvPr id="67" name="Google Shape;67;p1"/>
          <p:cNvSpPr txBox="1"/>
          <p:nvPr/>
        </p:nvSpPr>
        <p:spPr>
          <a:xfrm>
            <a:off x="3639312" y="4187952"/>
            <a:ext cx="1938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D3829"/>
                </a:solidFill>
                <a:latin typeface="Spectral"/>
                <a:ea typeface="Spectral"/>
                <a:cs typeface="Spectral"/>
                <a:sym typeface="Spectral"/>
              </a:rPr>
              <a:t>Status reports take about an hour each.</a:t>
            </a:r>
            <a:endParaRPr/>
          </a:p>
        </p:txBody>
      </p:sp>
      <p:sp>
        <p:nvSpPr>
          <p:cNvPr id="68" name="Google Shape;68;p1"/>
          <p:cNvSpPr txBox="1"/>
          <p:nvPr/>
        </p:nvSpPr>
        <p:spPr>
          <a:xfrm>
            <a:off x="5760720" y="3291840"/>
            <a:ext cx="384048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847347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=</a:t>
            </a:r>
            <a:endParaRPr/>
          </a:p>
        </p:txBody>
      </p:sp>
      <p:sp>
        <p:nvSpPr>
          <p:cNvPr id="69" name="Google Shape;69;p1"/>
          <p:cNvSpPr txBox="1"/>
          <p:nvPr/>
        </p:nvSpPr>
        <p:spPr>
          <a:xfrm>
            <a:off x="6254496" y="3108960"/>
            <a:ext cx="2286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F4C44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THE RESULT</a:t>
            </a:r>
            <a:endParaRPr/>
          </a:p>
        </p:txBody>
      </p:sp>
      <p:sp>
        <p:nvSpPr>
          <p:cNvPr id="70" name="Google Shape;70;p1"/>
          <p:cNvSpPr/>
          <p:nvPr/>
        </p:nvSpPr>
        <p:spPr>
          <a:xfrm>
            <a:off x="6254496" y="3291840"/>
            <a:ext cx="2331720" cy="1207008"/>
          </a:xfrm>
          <a:prstGeom prst="roundRect">
            <a:avLst>
              <a:gd fmla="val 12000" name="adj"/>
            </a:avLst>
          </a:prstGeom>
          <a:solidFill>
            <a:srgbClr val="F8ECE8"/>
          </a:solidFill>
          <a:ln cap="flat" cmpd="sng" w="9525">
            <a:solidFill>
              <a:srgbClr val="DDB9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"/>
          <p:cNvSpPr/>
          <p:nvPr/>
        </p:nvSpPr>
        <p:spPr>
          <a:xfrm>
            <a:off x="6455664" y="3653028"/>
            <a:ext cx="82296" cy="82296"/>
          </a:xfrm>
          <a:prstGeom prst="ellipse">
            <a:avLst/>
          </a:prstGeom>
          <a:solidFill>
            <a:srgbClr val="AF4C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"/>
          <p:cNvSpPr txBox="1"/>
          <p:nvPr/>
        </p:nvSpPr>
        <p:spPr>
          <a:xfrm>
            <a:off x="6620256" y="3584448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F4C44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Go-lives slip</a:t>
            </a:r>
            <a:endParaRPr/>
          </a:p>
        </p:txBody>
      </p:sp>
      <p:sp>
        <p:nvSpPr>
          <p:cNvPr id="73" name="Google Shape;73;p1"/>
          <p:cNvSpPr/>
          <p:nvPr/>
        </p:nvSpPr>
        <p:spPr>
          <a:xfrm>
            <a:off x="6455664" y="4037076"/>
            <a:ext cx="82296" cy="82296"/>
          </a:xfrm>
          <a:prstGeom prst="ellipse">
            <a:avLst/>
          </a:prstGeom>
          <a:solidFill>
            <a:srgbClr val="AF4C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"/>
          <p:cNvSpPr txBox="1"/>
          <p:nvPr/>
        </p:nvSpPr>
        <p:spPr>
          <a:xfrm>
            <a:off x="6620256" y="3968496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F4C44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Warning comes too late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9" name="Google Shape;79;p2"/>
          <p:cNvSpPr txBox="1"/>
          <p:nvPr>
            <p:ph idx="2" type="subTitle"/>
          </p:nvPr>
        </p:nvSpPr>
        <p:spPr>
          <a:xfrm>
            <a:off x="409915" y="390782"/>
            <a:ext cx="8562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Spectral SemiBold"/>
                <a:ea typeface="Spectral SemiBold"/>
                <a:cs typeface="Spectral SemiBold"/>
                <a:sym typeface="Spectral SemiBold"/>
              </a:rPr>
              <a:t>FROM PORTFOLIO RISK TO PUBLISHED REPORT</a:t>
            </a:r>
            <a:endParaRPr/>
          </a:p>
        </p:txBody>
      </p:sp>
      <p:sp>
        <p:nvSpPr>
          <p:cNvPr id="80" name="Google Shape;80;p2"/>
          <p:cNvSpPr txBox="1"/>
          <p:nvPr>
            <p:ph type="title"/>
          </p:nvPr>
        </p:nvSpPr>
        <p:spPr>
          <a:xfrm>
            <a:off x="409925" y="642200"/>
            <a:ext cx="73152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US" sz="2600">
                <a:solidFill>
                  <a:srgbClr val="0F2805"/>
                </a:solidFill>
              </a:rPr>
              <a:t>Reinvented: </a:t>
            </a:r>
            <a:r>
              <a:rPr i="1" lang="en-US" sz="2600">
                <a:solidFill>
                  <a:schemeClr val="dk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one record, from risk to report</a:t>
            </a:r>
            <a:r>
              <a:rPr lang="en-US" sz="2600">
                <a:solidFill>
                  <a:srgbClr val="0F2805"/>
                </a:solidFill>
              </a:rPr>
              <a:t>.</a:t>
            </a:r>
            <a:endParaRPr>
              <a:solidFill>
                <a:srgbClr val="0F2805"/>
              </a:solidFill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411480" y="1188720"/>
            <a:ext cx="8174736" cy="2304288"/>
          </a:xfrm>
          <a:prstGeom prst="roundRect">
            <a:avLst>
              <a:gd fmla="val 9325" name="adj"/>
            </a:avLst>
          </a:prstGeom>
          <a:solidFill>
            <a:srgbClr val="FCFAF5"/>
          </a:solidFill>
          <a:ln cap="flat" cmpd="sng" w="9525">
            <a:solidFill>
              <a:srgbClr val="C3B9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621792" y="1335024"/>
            <a:ext cx="420624" cy="420624"/>
          </a:xfrm>
          <a:prstGeom prst="ellipse">
            <a:avLst/>
          </a:prstGeom>
          <a:solidFill>
            <a:srgbClr val="4E58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am.png" id="83" name="Google Shape;83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4329" y="1427561"/>
            <a:ext cx="235549" cy="23554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"/>
          <p:cNvSpPr txBox="1"/>
          <p:nvPr/>
        </p:nvSpPr>
        <p:spPr>
          <a:xfrm>
            <a:off x="1170432" y="133045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Risk flagged on Portfolio</a:t>
            </a:r>
            <a:endParaRPr/>
          </a:p>
        </p:txBody>
      </p:sp>
      <p:sp>
        <p:nvSpPr>
          <p:cNvPr id="85" name="Google Shape;85;p2"/>
          <p:cNvSpPr txBox="1"/>
          <p:nvPr/>
        </p:nvSpPr>
        <p:spPr>
          <a:xfrm>
            <a:off x="1170432" y="1545336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D3829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AI-written, with confidence and evidence</a:t>
            </a:r>
            <a:endParaRPr/>
          </a:p>
        </p:txBody>
      </p:sp>
      <p:cxnSp>
        <p:nvCxnSpPr>
          <p:cNvPr id="86" name="Google Shape;86;p2"/>
          <p:cNvCxnSpPr/>
          <p:nvPr/>
        </p:nvCxnSpPr>
        <p:spPr>
          <a:xfrm>
            <a:off x="2889504" y="1545336"/>
            <a:ext cx="310896" cy="0"/>
          </a:xfrm>
          <a:prstGeom prst="straightConnector1">
            <a:avLst/>
          </a:prstGeom>
          <a:noFill/>
          <a:ln cap="flat" cmpd="sng" w="12700">
            <a:solidFill>
              <a:srgbClr val="C3B9A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7" name="Google Shape;87;p2"/>
          <p:cNvSpPr/>
          <p:nvPr/>
        </p:nvSpPr>
        <p:spPr>
          <a:xfrm>
            <a:off x="3319272" y="1335024"/>
            <a:ext cx="420624" cy="420624"/>
          </a:xfrm>
          <a:prstGeom prst="ellipse">
            <a:avLst/>
          </a:prstGeom>
          <a:solidFill>
            <a:srgbClr val="4E58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.png" id="88" name="Google Shape;88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11809" y="1427561"/>
            <a:ext cx="235549" cy="235549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"/>
          <p:cNvSpPr txBox="1"/>
          <p:nvPr/>
        </p:nvSpPr>
        <p:spPr>
          <a:xfrm>
            <a:off x="3867912" y="133045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Capacity checked first</a:t>
            </a:r>
            <a:endParaRPr/>
          </a:p>
        </p:txBody>
      </p:sp>
      <p:sp>
        <p:nvSpPr>
          <p:cNvPr id="90" name="Google Shape;90;p2"/>
          <p:cNvSpPr txBox="1"/>
          <p:nvPr/>
        </p:nvSpPr>
        <p:spPr>
          <a:xfrm>
            <a:off x="3867912" y="1545336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D3829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Over 100% refused before saving</a:t>
            </a:r>
            <a:endParaRPr/>
          </a:p>
        </p:txBody>
      </p:sp>
      <p:cxnSp>
        <p:nvCxnSpPr>
          <p:cNvPr id="91" name="Google Shape;91;p2"/>
          <p:cNvCxnSpPr/>
          <p:nvPr/>
        </p:nvCxnSpPr>
        <p:spPr>
          <a:xfrm>
            <a:off x="5586984" y="1545336"/>
            <a:ext cx="310896" cy="0"/>
          </a:xfrm>
          <a:prstGeom prst="straightConnector1">
            <a:avLst/>
          </a:prstGeom>
          <a:noFill/>
          <a:ln cap="flat" cmpd="sng" w="12700">
            <a:solidFill>
              <a:srgbClr val="C3B9A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2" name="Google Shape;92;p2"/>
          <p:cNvSpPr/>
          <p:nvPr/>
        </p:nvSpPr>
        <p:spPr>
          <a:xfrm>
            <a:off x="6016752" y="1335024"/>
            <a:ext cx="420624" cy="420624"/>
          </a:xfrm>
          <a:prstGeom prst="ellipse">
            <a:avLst/>
          </a:prstGeom>
          <a:solidFill>
            <a:srgbClr val="4E58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k.png" id="93" name="Google Shape;93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09289" y="1427561"/>
            <a:ext cx="235549" cy="23554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"/>
          <p:cNvSpPr txBox="1"/>
          <p:nvPr/>
        </p:nvSpPr>
        <p:spPr>
          <a:xfrm>
            <a:off x="6565392" y="133045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Report drafted by AI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6565392" y="1545336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D3829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The lead edits, then publishes</a:t>
            </a:r>
            <a:endParaRPr/>
          </a:p>
        </p:txBody>
      </p:sp>
      <p:pic>
        <p:nvPicPr>
          <p:cNvPr descr="res.png" id="96" name="Google Shape;96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1792" y="1920240"/>
            <a:ext cx="7754112" cy="1383287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"/>
          <p:cNvSpPr txBox="1"/>
          <p:nvPr/>
        </p:nvSpPr>
        <p:spPr>
          <a:xfrm>
            <a:off x="411480" y="3593592"/>
            <a:ext cx="27249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847347"/>
                </a:solidFill>
                <a:latin typeface="Spectral"/>
                <a:ea typeface="Spectral"/>
                <a:cs typeface="Spectral"/>
                <a:sym typeface="Spectral"/>
              </a:rPr>
              <a:t>39 sec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411480" y="4114800"/>
            <a:ext cx="27249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D3829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From question to an AI-written status draft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3136392" y="3593592"/>
            <a:ext cx="27249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4E582D"/>
                </a:solidFill>
                <a:latin typeface="Spectral"/>
                <a:ea typeface="Spectral"/>
                <a:cs typeface="Spectral"/>
                <a:sym typeface="Spectral"/>
              </a:rPr>
              <a:t>48 h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3136392" y="4114800"/>
            <a:ext cx="27249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D3829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Change routed to director, then finance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5861304" y="3593592"/>
            <a:ext cx="27249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2805"/>
                </a:solidFill>
                <a:latin typeface="Spectral"/>
                <a:ea typeface="Spectral"/>
                <a:cs typeface="Spectral"/>
                <a:sym typeface="Spectral"/>
              </a:rPr>
              <a:t>120%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5861304" y="4114800"/>
            <a:ext cx="27249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D3829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Booking refused before saving, with the weeks and hours over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3"/>
          <p:cNvSpPr txBox="1"/>
          <p:nvPr>
            <p:ph idx="2" type="subTitle"/>
          </p:nvPr>
        </p:nvSpPr>
        <p:spPr>
          <a:xfrm>
            <a:off x="409915" y="390782"/>
            <a:ext cx="8562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Spectral SemiBold"/>
                <a:ea typeface="Spectral SemiBold"/>
                <a:cs typeface="Spectral SemiBold"/>
                <a:sym typeface="Spectral SemiBold"/>
              </a:rPr>
              <a:t>WHAT THE DELIVERY DIRECTOR GETS</a:t>
            </a:r>
            <a:endParaRPr/>
          </a:p>
        </p:txBody>
      </p:sp>
      <p:sp>
        <p:nvSpPr>
          <p:cNvPr id="108" name="Google Shape;108;p3"/>
          <p:cNvSpPr txBox="1"/>
          <p:nvPr>
            <p:ph type="title"/>
          </p:nvPr>
        </p:nvSpPr>
        <p:spPr>
          <a:xfrm>
            <a:off x="409925" y="642200"/>
            <a:ext cx="73152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US" sz="2600">
                <a:solidFill>
                  <a:srgbClr val="0F2805"/>
                </a:solidFill>
              </a:rPr>
              <a:t>Every project’s health, </a:t>
            </a:r>
            <a:r>
              <a:rPr i="1" lang="en-US" sz="2600">
                <a:solidFill>
                  <a:schemeClr val="dk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with the risk named</a:t>
            </a:r>
            <a:r>
              <a:rPr lang="en-US" sz="2600">
                <a:solidFill>
                  <a:srgbClr val="0F2805"/>
                </a:solidFill>
              </a:rPr>
              <a:t>.</a:t>
            </a:r>
            <a:endParaRPr>
              <a:solidFill>
                <a:srgbClr val="0F2805"/>
              </a:solidFill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411480" y="1188720"/>
            <a:ext cx="4526280" cy="3200400"/>
          </a:xfrm>
          <a:prstGeom prst="roundRect">
            <a:avLst>
              <a:gd fmla="val 6714" name="adj"/>
            </a:avLst>
          </a:prstGeom>
          <a:solidFill>
            <a:srgbClr val="FCFAF5"/>
          </a:solidFill>
          <a:ln cap="flat" cmpd="sng" w="9525">
            <a:solidFill>
              <a:srgbClr val="C3B9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v.png" id="110" name="Google Shape;110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6928" y="1344168"/>
            <a:ext cx="4215384" cy="225761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566928" y="3711507"/>
            <a:ext cx="42153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Portfolio, as the director sees it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566928" y="3940107"/>
            <a:ext cx="42153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D3829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From the demo: 14 on track, 4 at risk and 2 off track, with Halden Freight flagged High.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5257800" y="1298448"/>
            <a:ext cx="457200" cy="457200"/>
          </a:xfrm>
          <a:prstGeom prst="ellipse">
            <a:avLst/>
          </a:prstGeom>
          <a:solidFill>
            <a:srgbClr val="4E58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1.png" id="114" name="Google Shape;11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58384" y="139903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 txBox="1"/>
          <p:nvPr/>
        </p:nvSpPr>
        <p:spPr>
          <a:xfrm>
            <a:off x="5870448" y="1289304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Health at a glance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5870448" y="1517904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D3829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On track, At risk and Off track, with the change since last week.</a:t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5257800" y="2084831"/>
            <a:ext cx="457200" cy="457200"/>
          </a:xfrm>
          <a:prstGeom prst="ellipse">
            <a:avLst/>
          </a:prstGeom>
          <a:solidFill>
            <a:srgbClr val="4E58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2.png" id="118" name="Google Shape;118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58384" y="2185415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"/>
          <p:cNvSpPr txBox="1"/>
          <p:nvPr/>
        </p:nvSpPr>
        <p:spPr>
          <a:xfrm>
            <a:off x="5870448" y="2075688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Risk flagged early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5870448" y="2304287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D3829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An AI-written risk card with a confidence level and the evidence behind it.</a:t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5257800" y="2871215"/>
            <a:ext cx="457200" cy="457200"/>
          </a:xfrm>
          <a:prstGeom prst="ellipse">
            <a:avLst/>
          </a:prstGeom>
          <a:solidFill>
            <a:srgbClr val="4E58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3.png" id="122" name="Google Shape;122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58384" y="2971799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"/>
          <p:cNvSpPr txBox="1"/>
          <p:nvPr/>
        </p:nvSpPr>
        <p:spPr>
          <a:xfrm>
            <a:off x="5870448" y="2862072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Risks by likelihood and impact</a:t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5870448" y="3090672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D3829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A grid of the open risks, RSK-1183 at likelihood 4.</a:t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5257800" y="3657600"/>
            <a:ext cx="457200" cy="457200"/>
          </a:xfrm>
          <a:prstGeom prst="ellipse">
            <a:avLst/>
          </a:prstGeom>
          <a:solidFill>
            <a:srgbClr val="4E58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4.png" id="126" name="Google Shape;126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358384" y="37581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"/>
          <p:cNvSpPr txBox="1"/>
          <p:nvPr/>
        </p:nvSpPr>
        <p:spPr>
          <a:xfrm>
            <a:off x="5870448" y="3648456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Filters that stick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5870448" y="3877056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D3829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Region, stage, health and lead as removable chips.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3"/>
          <p:cNvSpPr txBox="1"/>
          <p:nvPr>
            <p:ph idx="2" type="subTitle"/>
          </p:nvPr>
        </p:nvSpPr>
        <p:spPr>
          <a:xfrm>
            <a:off x="409915" y="390782"/>
            <a:ext cx="8562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Spectral SemiBold"/>
                <a:ea typeface="Spectral SemiBold"/>
                <a:cs typeface="Spectral SemiBold"/>
                <a:sym typeface="Spectral SemiBold"/>
              </a:rPr>
              <a:t>WHAT THE IMPLEMENTATION LEAD GETS</a:t>
            </a:r>
            <a:endParaRPr/>
          </a:p>
        </p:txBody>
      </p:sp>
      <p:sp>
        <p:nvSpPr>
          <p:cNvPr id="108" name="Google Shape;108;p3"/>
          <p:cNvSpPr txBox="1"/>
          <p:nvPr>
            <p:ph type="title"/>
          </p:nvPr>
        </p:nvSpPr>
        <p:spPr>
          <a:xfrm>
            <a:off x="409925" y="642200"/>
            <a:ext cx="73152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US" sz="2600">
                <a:solidFill>
                  <a:srgbClr val="0F2805"/>
                </a:solidFill>
              </a:rPr>
              <a:t>The weekly report, </a:t>
            </a:r>
            <a:r>
              <a:rPr i="1" lang="en-US" sz="2600">
                <a:solidFill>
                  <a:schemeClr val="dk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drafted for you</a:t>
            </a:r>
            <a:r>
              <a:rPr lang="en-US" sz="2600">
                <a:solidFill>
                  <a:srgbClr val="0F2805"/>
                </a:solidFill>
              </a:rPr>
              <a:t>.</a:t>
            </a:r>
            <a:endParaRPr>
              <a:solidFill>
                <a:srgbClr val="0F2805"/>
              </a:solidFill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411480" y="1188720"/>
            <a:ext cx="4526280" cy="3200400"/>
          </a:xfrm>
          <a:prstGeom prst="roundRect">
            <a:avLst>
              <a:gd fmla="val 6714" name="adj"/>
            </a:avLst>
          </a:prstGeom>
          <a:solidFill>
            <a:srgbClr val="FCFAF5"/>
          </a:solidFill>
          <a:ln cap="flat" cmpd="sng" w="9525">
            <a:solidFill>
              <a:srgbClr val="C3B9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v.png" id="110" name="Google Shape;110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6928" y="1344168"/>
            <a:ext cx="4215384" cy="225761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566928" y="3711507"/>
            <a:ext cx="42153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The status report editor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566928" y="3940107"/>
            <a:ext cx="42153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D3829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From the demo: the editor where the lead edits and publishes Halden Freight's report.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5257800" y="1298448"/>
            <a:ext cx="457200" cy="457200"/>
          </a:xfrm>
          <a:prstGeom prst="ellipse">
            <a:avLst/>
          </a:prstGeom>
          <a:solidFill>
            <a:srgbClr val="4E58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1.png" id="114" name="Google Shape;11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58384" y="139903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 txBox="1"/>
          <p:nvPr/>
        </p:nvSpPr>
        <p:spPr>
          <a:xfrm>
            <a:off x="5870448" y="1289304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Board by stage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5870448" y="1517904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D3829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Seven stages, a column limit, and a keyboard path for every move.</a:t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5257800" y="2084831"/>
            <a:ext cx="457200" cy="457200"/>
          </a:xfrm>
          <a:prstGeom prst="ellipse">
            <a:avLst/>
          </a:prstGeom>
          <a:solidFill>
            <a:srgbClr val="4E58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2.png" id="118" name="Google Shape;118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58384" y="2185415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"/>
          <p:cNvSpPr txBox="1"/>
          <p:nvPr/>
        </p:nvSpPr>
        <p:spPr>
          <a:xfrm>
            <a:off x="5870448" y="2075688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Scope changes with a diff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5870448" y="2304287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D3829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Before and after plans side by side, routed to the right approvers.</a:t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5257800" y="2871215"/>
            <a:ext cx="457200" cy="457200"/>
          </a:xfrm>
          <a:prstGeom prst="ellipse">
            <a:avLst/>
          </a:prstGeom>
          <a:solidFill>
            <a:srgbClr val="4E58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3.png" id="122" name="Google Shape;122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58384" y="2971799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"/>
          <p:cNvSpPr txBox="1"/>
          <p:nvPr/>
        </p:nvSpPr>
        <p:spPr>
          <a:xfrm>
            <a:off x="5870448" y="2862072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AI-written draft</a:t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5870448" y="3090672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D3829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Delivery Copilot drafts the status report from tasks, risks and time.</a:t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5257800" y="3657600"/>
            <a:ext cx="457200" cy="457200"/>
          </a:xfrm>
          <a:prstGeom prst="ellipse">
            <a:avLst/>
          </a:prstGeom>
          <a:solidFill>
            <a:srgbClr val="4E58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4.png" id="126" name="Google Shape;126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358384" y="37581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"/>
          <p:cNvSpPr txBox="1"/>
          <p:nvPr/>
        </p:nvSpPr>
        <p:spPr>
          <a:xfrm>
            <a:off x="5870448" y="3648456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Nothing published unseen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5870448" y="3877056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D3829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The lead edits the draft and publishes it; the Copilot cannot write.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3"/>
          <p:cNvSpPr txBox="1"/>
          <p:nvPr>
            <p:ph idx="2" type="subTitle"/>
          </p:nvPr>
        </p:nvSpPr>
        <p:spPr>
          <a:xfrm>
            <a:off x="409915" y="390782"/>
            <a:ext cx="8562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Spectral SemiBold"/>
                <a:ea typeface="Spectral SemiBold"/>
                <a:cs typeface="Spectral SemiBold"/>
                <a:sym typeface="Spectral SemiBold"/>
              </a:rPr>
              <a:t>WHAT THE CUSTOMER SPONSOR GETS</a:t>
            </a:r>
            <a:endParaRPr/>
          </a:p>
        </p:txBody>
      </p:sp>
      <p:sp>
        <p:nvSpPr>
          <p:cNvPr id="108" name="Google Shape;108;p3"/>
          <p:cNvSpPr txBox="1"/>
          <p:nvPr>
            <p:ph type="title"/>
          </p:nvPr>
        </p:nvSpPr>
        <p:spPr>
          <a:xfrm>
            <a:off x="409925" y="642200"/>
            <a:ext cx="73152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US" sz="2600">
                <a:solidFill>
                  <a:srgbClr val="0F2805"/>
                </a:solidFill>
              </a:rPr>
              <a:t>Their rollout, </a:t>
            </a:r>
            <a:r>
              <a:rPr i="1" lang="en-US" sz="2600">
                <a:solidFill>
                  <a:schemeClr val="dk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in their language</a:t>
            </a:r>
            <a:r>
              <a:rPr lang="en-US" sz="2600">
                <a:solidFill>
                  <a:srgbClr val="0F2805"/>
                </a:solidFill>
              </a:rPr>
              <a:t>.</a:t>
            </a:r>
            <a:endParaRPr>
              <a:solidFill>
                <a:srgbClr val="0F2805"/>
              </a:solidFill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411480" y="1188720"/>
            <a:ext cx="4526280" cy="3200400"/>
          </a:xfrm>
          <a:prstGeom prst="roundRect">
            <a:avLst>
              <a:gd fmla="val 6714" name="adj"/>
            </a:avLst>
          </a:prstGeom>
          <a:solidFill>
            <a:srgbClr val="FCFAF5"/>
          </a:solidFill>
          <a:ln cap="flat" cmpd="sng" w="9525">
            <a:solidFill>
              <a:srgbClr val="C3B9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v.png" id="110" name="Google Shape;110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6928" y="1344168"/>
            <a:ext cx="4215384" cy="225761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566928" y="3711507"/>
            <a:ext cx="42153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The portal in German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566928" y="3940107"/>
            <a:ext cx="42153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D3829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From the demo: Katrin Albers sees Halden Freight only, with Migration plan v2 due 28.10.2026.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5257800" y="1298448"/>
            <a:ext cx="457200" cy="457200"/>
          </a:xfrm>
          <a:prstGeom prst="ellipse">
            <a:avLst/>
          </a:prstGeom>
          <a:solidFill>
            <a:srgbClr val="4E58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1.png" id="114" name="Google Shape;11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58384" y="139903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 txBox="1"/>
          <p:nvPr/>
        </p:nvSpPr>
        <p:spPr>
          <a:xfrm>
            <a:off x="5870448" y="1289304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Only their project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5870448" y="1517904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D3829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Stage, milestones, sessions, open actions and shared documents.</a:t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5257800" y="2084831"/>
            <a:ext cx="457200" cy="457200"/>
          </a:xfrm>
          <a:prstGeom prst="ellipse">
            <a:avLst/>
          </a:prstGeom>
          <a:solidFill>
            <a:srgbClr val="4E58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2.png" id="118" name="Google Shape;118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58384" y="2185415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"/>
          <p:cNvSpPr txBox="1"/>
          <p:nvPr/>
        </p:nvSpPr>
        <p:spPr>
          <a:xfrm>
            <a:off x="5870448" y="2075688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In German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5870448" y="2304287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D3829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Portal screens and dates the German way, like 28.10.2026.</a:t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5257800" y="2871215"/>
            <a:ext cx="457200" cy="457200"/>
          </a:xfrm>
          <a:prstGeom prst="ellipse">
            <a:avLst/>
          </a:prstGeom>
          <a:solidFill>
            <a:srgbClr val="4E58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3.png" id="122" name="Google Shape;122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58384" y="2971799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"/>
          <p:cNvSpPr txBox="1"/>
          <p:nvPr/>
        </p:nvSpPr>
        <p:spPr>
          <a:xfrm>
            <a:off x="5870448" y="2862072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Sign-off with a record</a:t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5870448" y="3090672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D3829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Sign off a deliverable; who approved and when is kept.</a:t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5257800" y="3657600"/>
            <a:ext cx="457200" cy="457200"/>
          </a:xfrm>
          <a:prstGeom prst="ellipse">
            <a:avLst/>
          </a:prstGeom>
          <a:solidFill>
            <a:srgbClr val="4E58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4.png" id="126" name="Google Shape;126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358384" y="37581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"/>
          <p:cNvSpPr txBox="1"/>
          <p:nvPr/>
        </p:nvSpPr>
        <p:spPr>
          <a:xfrm>
            <a:off x="5870448" y="3648456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Internal health stays inside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5870448" y="3877056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D3829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Internal health scores are never shown to the customer.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3"/>
          <p:cNvSpPr txBox="1"/>
          <p:nvPr>
            <p:ph idx="2" type="subTitle"/>
          </p:nvPr>
        </p:nvSpPr>
        <p:spPr>
          <a:xfrm>
            <a:off x="409915" y="390782"/>
            <a:ext cx="8562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Spectral SemiBold"/>
                <a:ea typeface="Spectral SemiBold"/>
                <a:cs typeface="Spectral SemiBold"/>
                <a:sym typeface="Spectral SemiBold"/>
              </a:rPr>
              <a:t>WHAT THE VP OF CUSTOMER SUCCESS GETS</a:t>
            </a:r>
            <a:endParaRPr/>
          </a:p>
        </p:txBody>
      </p:sp>
      <p:sp>
        <p:nvSpPr>
          <p:cNvPr id="108" name="Google Shape;108;p3"/>
          <p:cNvSpPr txBox="1"/>
          <p:nvPr>
            <p:ph type="title"/>
          </p:nvPr>
        </p:nvSpPr>
        <p:spPr>
          <a:xfrm>
            <a:off x="409925" y="642200"/>
            <a:ext cx="73152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US" sz="2600">
                <a:solidFill>
                  <a:srgbClr val="0F2805"/>
                </a:solidFill>
              </a:rPr>
              <a:t>Monday’s numbers, </a:t>
            </a:r>
            <a:r>
              <a:rPr i="1" lang="en-US" sz="2600">
                <a:solidFill>
                  <a:schemeClr val="dk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and what moved</a:t>
            </a:r>
            <a:r>
              <a:rPr lang="en-US" sz="2600">
                <a:solidFill>
                  <a:srgbClr val="0F2805"/>
                </a:solidFill>
              </a:rPr>
              <a:t>.</a:t>
            </a:r>
            <a:endParaRPr>
              <a:solidFill>
                <a:srgbClr val="0F2805"/>
              </a:solidFill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411480" y="1188720"/>
            <a:ext cx="4526280" cy="3200400"/>
          </a:xfrm>
          <a:prstGeom prst="roundRect">
            <a:avLst>
              <a:gd fmla="val 6714" name="adj"/>
            </a:avLst>
          </a:prstGeom>
          <a:solidFill>
            <a:srgbClr val="FCFAF5"/>
          </a:solidFill>
          <a:ln cap="flat" cmpd="sng" w="9525">
            <a:solidFill>
              <a:srgbClr val="C3B9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v.png" id="110" name="Google Shape;110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6928" y="1344168"/>
            <a:ext cx="4215384" cy="225761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566928" y="3711507"/>
            <a:ext cx="42153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The weekly summary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566928" y="3940107"/>
            <a:ext cx="42153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D3829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From the demo: 6 projects at risk, 2 more than last week, shown as bad.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5257800" y="1298448"/>
            <a:ext cx="457200" cy="457200"/>
          </a:xfrm>
          <a:prstGeom prst="ellipse">
            <a:avLst/>
          </a:prstGeom>
          <a:solidFill>
            <a:srgbClr val="4E58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1.png" id="114" name="Google Shape;11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58384" y="139903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 txBox="1"/>
          <p:nvPr/>
        </p:nvSpPr>
        <p:spPr>
          <a:xfrm>
            <a:off x="5870448" y="1289304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Six headline numbers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5870448" y="1517904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D3829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Each with its change from last week, coloured good or bad for the business.</a:t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5257800" y="2084831"/>
            <a:ext cx="457200" cy="457200"/>
          </a:xfrm>
          <a:prstGeom prst="ellipse">
            <a:avLst/>
          </a:prstGeom>
          <a:solidFill>
            <a:srgbClr val="4E58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2.png" id="118" name="Google Shape;118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58384" y="2185415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"/>
          <p:cNvSpPr txBox="1"/>
          <p:nvPr/>
        </p:nvSpPr>
        <p:spPr>
          <a:xfrm>
            <a:off x="5870448" y="2075688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Contract value bridge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5870448" y="2304287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D3829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From 4.05 million at the start to 4.21 million at the end, in USD.</a:t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5257800" y="2871215"/>
            <a:ext cx="457200" cy="457200"/>
          </a:xfrm>
          <a:prstGeom prst="ellipse">
            <a:avLst/>
          </a:prstGeom>
          <a:solidFill>
            <a:srgbClr val="4E58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3.png" id="122" name="Google Shape;122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58384" y="2971799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"/>
          <p:cNvSpPr txBox="1"/>
          <p:nvPr/>
        </p:nvSpPr>
        <p:spPr>
          <a:xfrm>
            <a:off x="5870448" y="2862072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What changed most</a:t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5870448" y="3090672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D3829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The five projects that moved most, each with its reason.</a:t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5257800" y="3657600"/>
            <a:ext cx="457200" cy="457200"/>
          </a:xfrm>
          <a:prstGeom prst="ellipse">
            <a:avLst/>
          </a:prstGeom>
          <a:solidFill>
            <a:srgbClr val="4E58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4.png" id="126" name="Google Shape;126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358384" y="37581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"/>
          <p:cNvSpPr txBox="1"/>
          <p:nvPr/>
        </p:nvSpPr>
        <p:spPr>
          <a:xfrm>
            <a:off x="5870448" y="3648456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Monday 08:00 email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5870448" y="3877056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D3829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A sample of the summary each region receives at 08:00 local time.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Google Shape;20;p1"/>
          <p:cNvSpPr txBox="1"/>
          <p:nvPr>
            <p:ph idx="2" type="subTitle"/>
          </p:nvPr>
        </p:nvSpPr>
        <p:spPr>
          <a:xfrm>
            <a:off x="409915" y="390782"/>
            <a:ext cx="8562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Spectral SemiBold"/>
                <a:ea typeface="Spectral SemiBold"/>
                <a:cs typeface="Spectral SemiBold"/>
                <a:sym typeface="Spectral SemiBold"/>
              </a:rPr>
              <a:t>HOW IT WORKS WITH UNIFYAPPS</a:t>
            </a:r>
            <a:endParaRPr/>
          </a:p>
        </p:txBody>
      </p:sp>
      <p:sp>
        <p:nvSpPr>
          <p:cNvPr id="21" name="Google Shape;21;p1"/>
          <p:cNvSpPr txBox="1"/>
          <p:nvPr>
            <p:ph type="title"/>
          </p:nvPr>
        </p:nvSpPr>
        <p:spPr>
          <a:xfrm>
            <a:off x="409925" y="642200"/>
            <a:ext cx="73152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US" sz="2600">
                <a:solidFill>
                  <a:srgbClr val="0F2805"/>
                </a:solidFill>
              </a:rPr>
              <a:t>With UnifyApps: </a:t>
            </a:r>
            <a:r>
              <a:rPr i="1" lang="en-US" sz="2600">
                <a:solidFill>
                  <a:schemeClr val="dk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from risk to report on one record</a:t>
            </a:r>
            <a:r>
              <a:rPr lang="en-US" sz="2600">
                <a:solidFill>
                  <a:srgbClr val="0F2805"/>
                </a:solidFill>
              </a:rPr>
              <a:t>.</a:t>
            </a:r>
            <a:endParaRPr>
              <a:solidFill>
                <a:srgbClr val="0F2805"/>
              </a:solidFill>
            </a:endParaRP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490" y="1097280"/>
            <a:ext cx="8161020" cy="34975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" name="Google Shape;107;p3"/>
          <p:cNvSpPr txBox="1"/>
          <p:nvPr>
            <p:ph idx="2" type="subTitle"/>
          </p:nvPr>
        </p:nvSpPr>
        <p:spPr>
          <a:xfrm>
            <a:off x="409915" y="390782"/>
            <a:ext cx="8562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Spectral SemiBold"/>
                <a:ea typeface="Spectral SemiBold"/>
                <a:cs typeface="Spectral SemiBold"/>
                <a:sym typeface="Spectral SemiBold"/>
              </a:rPr>
              <a:t>NEXT STEPS</a:t>
            </a:r>
            <a:endParaRPr/>
          </a:p>
        </p:txBody>
      </p:sp>
      <p:sp>
        <p:nvSpPr>
          <p:cNvPr id="108" name="Google Shape;108;p3"/>
          <p:cNvSpPr txBox="1"/>
          <p:nvPr>
            <p:ph type="title"/>
          </p:nvPr>
        </p:nvSpPr>
        <p:spPr>
          <a:xfrm>
            <a:off x="409925" y="642200"/>
            <a:ext cx="73152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US" sz="2600">
                <a:solidFill>
                  <a:srgbClr val="0F2805"/>
                </a:solidFill>
              </a:rPr>
              <a:t>From proof of concept </a:t>
            </a:r>
            <a:r>
              <a:rPr i="1" lang="en-US" sz="2600">
                <a:solidFill>
                  <a:schemeClr val="dk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to a pilot</a:t>
            </a:r>
            <a:r>
              <a:rPr lang="en-US" sz="2600">
                <a:solidFill>
                  <a:srgbClr val="0F2805"/>
                </a:solidFill>
              </a:rPr>
              <a:t>.</a:t>
            </a:r>
            <a:endParaRPr>
              <a:solidFill>
                <a:srgbClr val="0F2805"/>
              </a:solidFill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411480" y="1188720"/>
            <a:ext cx="4526280" cy="3200400"/>
          </a:xfrm>
          <a:prstGeom prst="roundRect">
            <a:avLst>
              <a:gd fmla="val 6714" name="adj"/>
            </a:avLst>
          </a:prstGeom>
          <a:solidFill>
            <a:srgbClr val="FCFAF5"/>
          </a:solidFill>
          <a:ln cap="flat" cmpd="sng" w="9525">
            <a:solidFill>
              <a:srgbClr val="C3B9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v.png" id="110" name="Google Shape;110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6928" y="1344168"/>
            <a:ext cx="4215384" cy="225761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566928" y="3711507"/>
            <a:ext cx="42153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Halden Freight's board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566928" y="3940107"/>
            <a:ext cx="42153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D3829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From the demo: the board by stage, with Migration over its 15-task limit.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5257800" y="1298448"/>
            <a:ext cx="457200" cy="457200"/>
          </a:xfrm>
          <a:prstGeom prst="ellipse">
            <a:avLst/>
          </a:prstGeom>
          <a:solidFill>
            <a:srgbClr val="4E58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1.png" id="114" name="Google Shape;11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58384" y="139903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 txBox="1"/>
          <p:nvPr/>
        </p:nvSpPr>
        <p:spPr>
          <a:xfrm>
            <a:off x="5870448" y="1289304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Agree the pilot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5870448" y="1517904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D3829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Pick a delivery region and its live projects.</a:t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5257800" y="2084831"/>
            <a:ext cx="457200" cy="457200"/>
          </a:xfrm>
          <a:prstGeom prst="ellipse">
            <a:avLst/>
          </a:prstGeom>
          <a:solidFill>
            <a:srgbClr val="4E58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2.png" id="118" name="Google Shape;118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58384" y="2185415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"/>
          <p:cNvSpPr txBox="1"/>
          <p:nvPr/>
        </p:nvSpPr>
        <p:spPr>
          <a:xfrm>
            <a:off x="5870448" y="2075688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Connect your systems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5870448" y="2304287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D3829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Salesforce, Slack, Google Drive and Jira, connected at go-live.</a:t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5257800" y="2871215"/>
            <a:ext cx="457200" cy="457200"/>
          </a:xfrm>
          <a:prstGeom prst="ellipse">
            <a:avLst/>
          </a:prstGeom>
          <a:solidFill>
            <a:srgbClr val="4E58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3.png" id="122" name="Google Shape;122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58384" y="2971799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"/>
          <p:cNvSpPr txBox="1"/>
          <p:nvPr/>
        </p:nvSpPr>
        <p:spPr>
          <a:xfrm>
            <a:off x="5870448" y="2862072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Customer sign-ins</a:t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5870448" y="3090672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D3829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Sponsors sign in to see only their own project.</a:t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5257800" y="3657600"/>
            <a:ext cx="457200" cy="457200"/>
          </a:xfrm>
          <a:prstGeom prst="ellipse">
            <a:avLst/>
          </a:prstGeom>
          <a:solidFill>
            <a:srgbClr val="4E58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4.png" id="126" name="Google Shape;126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358384" y="37581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"/>
          <p:cNvSpPr txBox="1"/>
          <p:nvPr/>
        </p:nvSpPr>
        <p:spPr>
          <a:xfrm>
            <a:off x="5870448" y="3648456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2805"/>
                </a:solidFill>
                <a:latin typeface="Spectral SemiBold"/>
                <a:ea typeface="Spectral SemiBold"/>
                <a:cs typeface="Spectral SemiBold"/>
                <a:sym typeface="Spectral SemiBold"/>
              </a:rPr>
              <a:t>Roll out by region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5870448" y="3877056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D3829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Region by region, with the weekly summary as the measure.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UnifyApps">
  <a:themeElements>
    <a:clrScheme name="Unify Palette">
      <a:dk1>
        <a:srgbClr val="847347"/>
      </a:dk1>
      <a:lt1>
        <a:srgbClr val="EDE6D7"/>
      </a:lt1>
      <a:dk2>
        <a:srgbClr val="4E582D"/>
      </a:dk2>
      <a:lt2>
        <a:srgbClr val="F7F3ED"/>
      </a:lt2>
      <a:accent1>
        <a:srgbClr val="040B04"/>
      </a:accent1>
      <a:accent2>
        <a:srgbClr val="002000"/>
      </a:accent2>
      <a:accent3>
        <a:srgbClr val="4E582D"/>
      </a:accent3>
      <a:accent4>
        <a:srgbClr val="828750"/>
      </a:accent4>
      <a:accent5>
        <a:srgbClr val="C5BAA9"/>
      </a:accent5>
      <a:accent6>
        <a:srgbClr val="E3D8C2"/>
      </a:accent6>
      <a:hlink>
        <a:srgbClr val="4E582D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